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0" y="4572000"/>
            <a:ext cx="5486400" cy="2286000"/>
          </a:xfrm>
          <a:prstGeom prst="rtTriangle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303520" cy="265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1887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0C2A8"/>
                </a:solidFill>
                <a:latin typeface="Calibri"/>
              </a:rPr>
              <a:t>FACHVORTRAG  •  STEUERRECHT &amp; TECHNOLOGIE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858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Der Einsatz neuester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KI-Technik im Rahmen der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Steuerhinterziehung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297680"/>
            <a:ext cx="1371600" cy="73152"/>
          </a:xfrm>
          <a:prstGeom prst="rect">
            <a:avLst/>
          </a:prstGeom>
          <a:solidFill>
            <a:srgbClr val="E4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4B84C"/>
                </a:solidFill>
                <a:latin typeface="Calibri"/>
              </a:rPr>
              <a:t>von Bastian &amp; Ibrahim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B8C2D6"/>
                </a:solidFill>
                <a:latin typeface="Calibri"/>
              </a:rPr>
              <a:t>Schuljahr 2025 /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Inhaltsverzeichnis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2588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41732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Grundzüge der KI-Entwicklung in NRW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2588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141732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Fokus NRW: Pilotprojekt seit Juni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036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8036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7180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6324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Umsatzsteuerbetrug &amp; aggressive Steuervermeidung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88036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88036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7180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306324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Finanzkriminalität mit Kryptowerten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2628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1772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0916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Gegenspieler – Schadensvolumen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2628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61772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00C2A8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470916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B263A"/>
                </a:solidFill>
                <a:latin typeface="Calibri"/>
              </a:rPr>
              <a:t>Blick über den Tellerrand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Grundzüge der KI-Entwicklung in NRW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1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Verantwortung, Skilling und „Human-in-the-Loop"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Technologieoffenheit, Datensicherheit &amp; Multi-Vendor-Ansatz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Verwaltungsassistent: NRW.Genius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Kaarst – eines der modernsten Rechenzentren Deutschlands</a:t>
            </a:r>
          </a:p>
        </p:txBody>
      </p:sp>
      <p:pic>
        <p:nvPicPr>
          <p:cNvPr id="18" name="Picture 17" descr="04_multiven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389120" cy="2194560"/>
          </a:xfrm>
          <a:prstGeom prst="rect">
            <a:avLst/>
          </a:prstGeom>
        </p:spPr>
      </p:pic>
      <p:pic>
        <p:nvPicPr>
          <p:cNvPr id="19" name="Picture 18" descr="05_kaar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57600"/>
            <a:ext cx="4389120" cy="2468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Fokus NRW: Pilotprojekt seit Juni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2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Projekt des Bundeslandes NRW (LBF NRW) &amp; des Fraunhofer IAIS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Retrieval-Augmented-Generation-System (RAG-Filter)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Ziel: Geldflüsse zur Terrorfinanzierung aufdecken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Frühjahr 2026: KI-Modul in der Steuerveranlagung (risikoarme Fälle)</a:t>
            </a:r>
          </a:p>
        </p:txBody>
      </p:sp>
      <p:pic>
        <p:nvPicPr>
          <p:cNvPr id="18" name="Picture 17" descr="06_r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480560" cy="3017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512064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B263A"/>
                </a:solidFill>
                <a:latin typeface="Calibri"/>
              </a:rPr>
              <a:t>Retrieval-Augmented Generation (RAG)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Umsatzsteuerbetrug &amp; aggressive Steuervermeidung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3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Forschungsprojekt „TaDeA" (Uni Oldenburg)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Large Language Models (LLM)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Big-Data-Methoden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Projektgruppe „Spark"</a:t>
            </a:r>
          </a:p>
        </p:txBody>
      </p:sp>
      <p:pic>
        <p:nvPicPr>
          <p:cNvPr id="18" name="Picture 17" descr="09_tade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94560"/>
            <a:ext cx="448056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0060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B263A"/>
                </a:solidFill>
                <a:latin typeface="Calibri"/>
              </a:rPr>
              <a:t>TaDeA – Data and Analysis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Finanzkriminalität mit Kryptowerten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4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Kooperation LSF Sachsen &amp; Hochschule Mittweida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Millionenschwerer Markt in Deutschland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Einkommensteuerpflicht bei Veräußerung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EU-Richtlinie „DAC 8" – Meldepflicht für Kryptodienstleister</a:t>
            </a:r>
          </a:p>
        </p:txBody>
      </p:sp>
      <p:pic>
        <p:nvPicPr>
          <p:cNvPr id="18" name="Picture 17" descr="10_blockch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48056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61772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B263A"/>
                </a:solidFill>
                <a:latin typeface="Calibri"/>
              </a:rPr>
              <a:t>Funktionsweise der Blockchain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Gegenspieler – Das Ausmaß der Steuerhinterziehung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B1E3F"/>
                </a:solidFill>
                <a:latin typeface="Calibri"/>
              </a:rPr>
              <a:t>Warum braucht es überhaupt KI in der Steuerverwaltung?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6E7A8C"/>
                </a:solidFill>
                <a:latin typeface="Calibri"/>
              </a:rPr>
              <a:t>Die Dimensionen der Steuerhinterziehung sind enorm – ein Blick auf vier zentrale Kennzahlen.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370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370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14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>
                <a:solidFill>
                  <a:srgbClr val="00C2A8"/>
                </a:solidFill>
                <a:latin typeface="Calibri"/>
              </a:rPr>
              <a:t>823,5 Mrd. 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86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geschätzte Steuerlücke in der 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6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B8C2D6"/>
                </a:solidFill>
                <a:latin typeface="Calibri"/>
              </a:rPr>
              <a:t>(Quelle: Univ. London / Statista, 2015)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406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406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550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>
                <a:solidFill>
                  <a:srgbClr val="00C2A8"/>
                </a:solidFill>
                <a:latin typeface="Calibri"/>
              </a:rPr>
              <a:t>125,1 Mrd.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122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entfallen davon auf Deutschland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122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B8C2D6"/>
                </a:solidFill>
                <a:latin typeface="Calibri"/>
              </a:rPr>
              <a:t>(Statista, 2015)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442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>
                <a:solidFill>
                  <a:srgbClr val="00C2A8"/>
                </a:solidFill>
                <a:latin typeface="Calibri"/>
              </a:rPr>
              <a:t>113 Mrd.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158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Schaden durch Sozial-/ Abgabenbetrug p. 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158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B8C2D6"/>
                </a:solidFill>
                <a:latin typeface="Calibri"/>
              </a:rPr>
              <a:t>(Schneider/JKU Linz, 2023)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478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478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622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>
                <a:solidFill>
                  <a:srgbClr val="00C2A8"/>
                </a:solidFill>
                <a:latin typeface="Calibri"/>
              </a:rPr>
              <a:t>nur 2,5 Mrd.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194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Mehrsteuern durch Steuerfahndung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194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B8C2D6"/>
                </a:solidFill>
                <a:latin typeface="Calibri"/>
              </a:rPr>
              <a:t>(BMF / Statista)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Steuerhinterziehung kostet EU-Staaten Milliarden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2_eu_steuerhinterziehu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3228544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8308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0" y="210312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823,5 Mrd. € Gesamtschaden EU-weit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78892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Italien an der Spitze (190,9 Mrd. 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47472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Deutschland Platz 2 (125,1 Mrd. €)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416052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Quelle: Univ. London / S&amp;D-Fraktion (Statista)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Schaden durch Sozial- und Abgabenbetrug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3_sozialbetru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858000" cy="4976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2801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8308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22860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113 Mrd. € Gesamtschaden / Jahr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9718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54,1 Mrd. € durch Schwarzarbeit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6576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38,4 Mrd. € klass. Steuerhinterziehung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434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20,5 Mrd. € Sozialbetrug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30352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Quelle: Prof. Dr. F. Schneider, JKU Linz, 2023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Steuerfahndung: Es bleibt eine riesige Lücke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7_pean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21208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2801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78308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Nur 2,2 – 3,3 Mrd. € jährlich entdeckt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97180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27,4 Mrd. € Mehrsteuern in 10 Jahren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65760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Geschätzter Verlust: 30 – 100 Mrd. € p. 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34340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Riesige Dunkelziffer → Bedarf für 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0352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Quelle: BMF / Statista-Recherche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Mehrsteuern nach Steuerarten (in Mio. 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8_mehrsteuer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5237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2801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8308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22860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Umsatzsteuer dominiert (966,2 Mio. 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9718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Einkommensteuer: 422,5 Mio. 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6576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Sonstige Steuern: 416,2 Mio. 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434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→ USt ist Haupteinfallstor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Blick über den Tellerrand – CRS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0B1E3F"/>
                </a:solidFill>
                <a:latin typeface="Calibri"/>
              </a:rPr>
              <a:t>Common-Reporting-Standard (CRS)</a:t>
            </a:r>
          </a:p>
        </p:txBody>
      </p:sp>
      <p:pic>
        <p:nvPicPr>
          <p:cNvPr id="9" name="Picture 8" descr="11_c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731520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22860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Automatischer Infoaustausch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9718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Seit 2017 weltweit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6576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Auslandsvermögen offenlegen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3434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Finanzzentren = höheres Risiko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Blick über den Tellerrand – CbCR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0B1E3F"/>
                </a:solidFill>
                <a:latin typeface="Calibri"/>
              </a:rPr>
              <a:t>Country-by-Country Reporting (CbCR)</a:t>
            </a:r>
          </a:p>
        </p:txBody>
      </p:sp>
      <p:pic>
        <p:nvPicPr>
          <p:cNvPr id="9" name="Picture 8" descr="12_cbc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5029200" cy="35424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286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78892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301752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Berichtspflicht für Konzerne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Steuerdaten pro Land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38912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Umsatzschwelle: 750 Mio. 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07492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XLSX → XML-Übermittlung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Blick über den Tellerrand – FATCA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0B1E3F"/>
                </a:solidFill>
                <a:latin typeface="Calibri"/>
              </a:rPr>
              <a:t>Foreign Account Tax Compliance Act (FATCA)</a:t>
            </a:r>
          </a:p>
        </p:txBody>
      </p:sp>
      <p:pic>
        <p:nvPicPr>
          <p:cNvPr id="9" name="Picture 8" descr="13_fat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77440"/>
            <a:ext cx="7315200" cy="31409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2286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78892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3017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US-Gesetz von 2010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7033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Meldepflicht für Banken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3891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Erfasst Auslandskonten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50749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Verhindert Steuerflucht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Digitale Forensik – Panama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0B1E3F"/>
                </a:solidFill>
                <a:latin typeface="Calibri"/>
              </a:rPr>
              <a:t>Digitale Forensik – Panama Papers</a:t>
            </a:r>
          </a:p>
        </p:txBody>
      </p:sp>
      <p:pic>
        <p:nvPicPr>
          <p:cNvPr id="9" name="Picture 8" descr="14_pana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6858000" cy="22888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93776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E7A8C"/>
                </a:solidFill>
                <a:latin typeface="Calibri"/>
              </a:rPr>
              <a:t>Netzwerk-Visualisierung der Briefkasten-Beziehungen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B1E3F"/>
                </a:solidFill>
                <a:latin typeface="Calibri"/>
              </a:rPr>
              <a:t>Kernaussagen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788920"/>
            <a:ext cx="1097280" cy="457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3017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11,5 Mio. Dokumente geleakt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7033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Briefkastenfirmen in Panama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3891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Aufgedeckt durch Datenanalyse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50749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ICIJ-Recherche 2016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37160" cy="8229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FAZIT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00C2A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05740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Riesige Steuerlücke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CFD8E6"/>
                </a:solidFill>
                <a:latin typeface="Calibri"/>
              </a:rPr>
              <a:t>Bis zu 100 Mrd. € entgehen dem deutschen Staat jährlich – die klassische Steuerfahndung deckt nur einen Bruchteil auf.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00C2A8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747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KI als Gamechanger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931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CFD8E6"/>
                </a:solidFill>
                <a:latin typeface="Calibri"/>
              </a:rPr>
              <a:t>RAG-Systeme, LLMs und Big-Data-Analysen (TaDeA, NRW.Genius) erkennen Muster, die Menschen übersehen würden.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00C2A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8920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Internationale Vernetzung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34924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CFD8E6"/>
                </a:solidFill>
                <a:latin typeface="Calibri"/>
              </a:rPr>
              <a:t>CRS, CbCR, FATCA und DAC 8 schaffen die Datenbasis, die KI-Systeme erst wirksam macht.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217920"/>
            <a:ext cx="1219169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00C2A8"/>
                </a:solidFill>
                <a:latin typeface="Calibri"/>
              </a:rPr>
              <a:t>Vielen Dank für Ihre Aufmerksamkeit!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Quellenverzeichnis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>
                <a:solidFill>
                  <a:srgbClr val="00C2A8"/>
                </a:solidFill>
                <a:latin typeface="Calibri"/>
              </a:rPr>
              <a:t>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70432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43000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Künstliche Intelligenz in der Finanzverwaltung NRW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44752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finanzverwaltung.nrw – abgerufen am 23.05.2026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47088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47088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2024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892808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NRW &amp; Fraunhofer IAIS erproben KI-Einsatz bei der Steuerfahndung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19456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Pressemitteilung Finanzverwaltung NRW, 10.06.2025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96896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96896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670048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642616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Finanzkriminalität mit Kryptowerten: Sachsen setzt auf 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944368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Pressemitteilung, 12.11.2025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46704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46704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19856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92424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TaDeA – Universität Oldenburg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94176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tadea-ol.de – abgerufen am 26.05.2026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96512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4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42232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Statista: Steuerhinterziehung in EU-Staaten / Steuerfahndung-Mehrsteuern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443984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statista.com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6320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846320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19472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892040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Prof. Dr. F. Schneider, JKU Linz – Schaden durch Sozial- und Abgabenbetrug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193792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ZDF heute, 2023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96128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596128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6928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C2A8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641848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B1E3F"/>
                </a:solidFill>
                <a:latin typeface="Calibri"/>
              </a:rPr>
              <a:t>DIW Berlin Wochenbericht 22/2025 – Auslandsvermögen &amp; CRS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43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E7A8C"/>
                </a:solidFill>
                <a:latin typeface="Calibri"/>
              </a:rPr>
              <a:t>diw.de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00C2A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