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4572000"/>
            <a:ext cx="5486400" cy="2286000"/>
          </a:xfrm>
          <a:prstGeom prst="rtTriangle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_handsh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2651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18872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C2A8"/>
                </a:solidFill>
                <a:latin typeface="Calibri"/>
              </a:rPr>
              <a:t>FACHVORTRAG  •  STEUERRECHT &amp; TECHNOLOGIE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6858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Der Einsatz neuester</a:t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KI-Technik im Rahmen der</a:t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Steuerhinterziehung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297680"/>
            <a:ext cx="1371600" cy="73152"/>
          </a:xfrm>
          <a:prstGeom prst="rect">
            <a:avLst/>
          </a:prstGeom>
          <a:solidFill>
            <a:srgbClr val="E4B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E4B84C"/>
                </a:solidFill>
                <a:latin typeface="Calibri"/>
              </a:rPr>
              <a:t>von Bastian &amp; Ibrahim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B8C2D6"/>
                </a:solidFill>
                <a:latin typeface="Calibri"/>
              </a:rPr>
              <a:t>Schuljahr 2025 /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73152" cy="5029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Inhaltsverzeichnis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74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C2A8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E7A8C"/>
                </a:solidFill>
                <a:latin typeface="Calibri"/>
              </a:rPr>
              <a:t>9 Themen · ca. 12–14 Minuten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2267" y="123444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2267" y="1234440"/>
            <a:ext cx="137160" cy="14173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6587" y="1371600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6707" y="1417320"/>
            <a:ext cx="237744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263A"/>
                </a:solidFill>
                <a:latin typeface="Calibri"/>
              </a:rPr>
              <a:t>Grundzüge der KI-Entwicklung in NRW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4187" y="123444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4187" y="1234440"/>
            <a:ext cx="137160" cy="14173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8507" y="1371600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78627" y="1417320"/>
            <a:ext cx="237744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263A"/>
                </a:solidFill>
                <a:latin typeface="Calibri"/>
              </a:rPr>
              <a:t>Fokus NRW: Pilotprojekt seit Juni 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6107" y="123444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6107" y="1234440"/>
            <a:ext cx="137160" cy="14173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427" y="1371600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0547" y="1417320"/>
            <a:ext cx="237744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263A"/>
                </a:solidFill>
                <a:latin typeface="Calibri"/>
              </a:rPr>
              <a:t>Umsatzsteuerbetrug &amp; aggressive Steuervermeidung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2267" y="2852928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2267" y="2852928"/>
            <a:ext cx="137160" cy="14173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6587" y="2990088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6707" y="3035808"/>
            <a:ext cx="237744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263A"/>
                </a:solidFill>
                <a:latin typeface="Calibri"/>
              </a:rPr>
              <a:t>Finanzkriminalität mit Kryptowerten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44187" y="2852928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44187" y="2852928"/>
            <a:ext cx="137160" cy="14173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8507" y="2990088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8627" y="3035808"/>
            <a:ext cx="237744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263A"/>
                </a:solidFill>
                <a:latin typeface="Calibri"/>
              </a:rPr>
              <a:t>Gegenspieler – Schadensvolumen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76107" y="2852928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76107" y="2852928"/>
            <a:ext cx="137160" cy="14173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0427" y="2990088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0547" y="3035808"/>
            <a:ext cx="237744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263A"/>
                </a:solidFill>
                <a:latin typeface="Calibri"/>
              </a:rPr>
              <a:t>Blick über den Tellerrand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2267" y="4471416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2267" y="4471416"/>
            <a:ext cx="137160" cy="14173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6587" y="4608576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46707" y="4654296"/>
            <a:ext cx="237744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263A"/>
                </a:solidFill>
                <a:latin typeface="Calibri"/>
              </a:rPr>
              <a:t>Wie funktioniert KI-Steuerprüfung?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44187" y="4471416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44187" y="4471416"/>
            <a:ext cx="137160" cy="14173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8507" y="4608576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78627" y="4654296"/>
            <a:ext cx="237744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263A"/>
                </a:solidFill>
                <a:latin typeface="Calibri"/>
              </a:rPr>
              <a:t>Chancen &amp; Risiken des KI-Einsatzes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76107" y="4471416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76107" y="4471416"/>
            <a:ext cx="137160" cy="14173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0427" y="4608576"/>
            <a:ext cx="914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0C2A8"/>
                </a:solidFill>
                <a:latin typeface="Calibri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0547" y="4654296"/>
            <a:ext cx="237744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1B263A"/>
                </a:solidFill>
                <a:latin typeface="Calibri"/>
              </a:rPr>
              <a:t>Ausblick – 2026 und danach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B8C2D6"/>
                </a:solidFill>
                <a:latin typeface="Calibri"/>
              </a:rPr>
              <a:t>KI-Technik &amp; Steuerhinterziehung  •  Bastian &amp; Ibrahim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00C2A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73152" cy="5029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Grundzüge der KI-Entwicklung in NRW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74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C2A8"/>
                </a:solidFill>
                <a:latin typeface="Calibri"/>
              </a:rPr>
              <a:t>Folie 1 /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6400800" cy="868680"/>
          </a:xfrm>
          <a:prstGeom prst="roundRect">
            <a:avLst>
              <a:gd name="adj" fmla="val 1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E3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0876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Verantwortung, Skilling und „Human-in-the-Loop"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6400800" cy="868680"/>
          </a:xfrm>
          <a:prstGeom prst="roundRect">
            <a:avLst>
              <a:gd name="adj" fmla="val 1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E3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6032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Technologieoffenheit, Datensicherheit &amp; Multi-Vendor-Ansatz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6400800" cy="868680"/>
          </a:xfrm>
          <a:prstGeom prst="roundRect">
            <a:avLst>
              <a:gd name="adj" fmla="val 1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E3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61188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Verwaltungsassistent: NRW.Genius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34840"/>
            <a:ext cx="6400800" cy="868680"/>
          </a:xfrm>
          <a:prstGeom prst="roundRect">
            <a:avLst>
              <a:gd name="adj" fmla="val 1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617720"/>
            <a:ext cx="502920" cy="50292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E3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66344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Kaarst – eines der modernsten Rechenzentren Deutschlands</a:t>
            </a:r>
          </a:p>
        </p:txBody>
      </p:sp>
      <p:pic>
        <p:nvPicPr>
          <p:cNvPr id="18" name="Picture 17" descr="04_multivend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389120" cy="2194560"/>
          </a:xfrm>
          <a:prstGeom prst="rect">
            <a:avLst/>
          </a:prstGeom>
        </p:spPr>
      </p:pic>
      <p:pic>
        <p:nvPicPr>
          <p:cNvPr id="19" name="Picture 18" descr="05_kaar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657600"/>
            <a:ext cx="4389120" cy="24688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B8C2D6"/>
                </a:solidFill>
                <a:latin typeface="Calibri"/>
              </a:rPr>
              <a:t>KI-Technik &amp; Steuerhinterziehung  •  Bastian &amp; Ibrahim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00C2A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73152" cy="5029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Fokus NRW: Pilotprojekt seit Juni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74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C2A8"/>
                </a:solidFill>
                <a:latin typeface="Calibri"/>
              </a:rPr>
              <a:t>Folie 2 /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6400800" cy="868680"/>
          </a:xfrm>
          <a:prstGeom prst="roundRect">
            <a:avLst>
              <a:gd name="adj" fmla="val 1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E3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0876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Projekt des Bundeslandes NRW (LBF NRW) &amp; des Fraunhofer IAIS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6400800" cy="868680"/>
          </a:xfrm>
          <a:prstGeom prst="roundRect">
            <a:avLst>
              <a:gd name="adj" fmla="val 1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E3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6032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Retrieval-Augmented-Generation-System (RAG-Filter)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6400800" cy="868680"/>
          </a:xfrm>
          <a:prstGeom prst="roundRect">
            <a:avLst>
              <a:gd name="adj" fmla="val 1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E3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61188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Ziel: Geldflüsse zur Terrorfinanzierung aufdecken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34840"/>
            <a:ext cx="6400800" cy="868680"/>
          </a:xfrm>
          <a:prstGeom prst="roundRect">
            <a:avLst>
              <a:gd name="adj" fmla="val 1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617720"/>
            <a:ext cx="502920" cy="50292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E3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66344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Frühjahr 2026: KI-Modul in der Steuerveranlagung (risikoarme Fälle)</a:t>
            </a:r>
          </a:p>
        </p:txBody>
      </p:sp>
      <p:pic>
        <p:nvPicPr>
          <p:cNvPr id="18" name="Picture 17" descr="06_r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11680"/>
            <a:ext cx="4480560" cy="30175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0" y="512064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B263A"/>
                </a:solidFill>
                <a:latin typeface="Calibri"/>
              </a:rPr>
              <a:t>Retrieval-Augmented Generation (RAG)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B8C2D6"/>
                </a:solidFill>
                <a:latin typeface="Calibri"/>
              </a:rPr>
              <a:t>KI-Technik &amp; Steuerhinterziehung  •  Bastian &amp; Ibrahim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00C2A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73152" cy="5029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Umsatzsteuerbetrug &amp; aggressive Steuervermeidung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74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C2A8"/>
                </a:solidFill>
                <a:latin typeface="Calibri"/>
              </a:rPr>
              <a:t>Folie 3 /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6400800" cy="868680"/>
          </a:xfrm>
          <a:prstGeom prst="roundRect">
            <a:avLst>
              <a:gd name="adj" fmla="val 1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E3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0876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Forschungsprojekt „TaDeA" (Uni Oldenburg)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6400800" cy="868680"/>
          </a:xfrm>
          <a:prstGeom prst="roundRect">
            <a:avLst>
              <a:gd name="adj" fmla="val 1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E3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6032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Large Language Models (LLM)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6400800" cy="868680"/>
          </a:xfrm>
          <a:prstGeom prst="roundRect">
            <a:avLst>
              <a:gd name="adj" fmla="val 1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E3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61188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Big-Data-Methoden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34840"/>
            <a:ext cx="6400800" cy="868680"/>
          </a:xfrm>
          <a:prstGeom prst="roundRect">
            <a:avLst>
              <a:gd name="adj" fmla="val 1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617720"/>
            <a:ext cx="502920" cy="50292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E3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66344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Projektgruppe „Spark"</a:t>
            </a:r>
          </a:p>
        </p:txBody>
      </p:sp>
      <p:pic>
        <p:nvPicPr>
          <p:cNvPr id="18" name="Picture 17" descr="09_tade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194560"/>
            <a:ext cx="4480560" cy="2514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0" y="480060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B263A"/>
                </a:solidFill>
                <a:latin typeface="Calibri"/>
              </a:rPr>
              <a:t>TaDeA – Data and Analysis Platform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B8C2D6"/>
                </a:solidFill>
                <a:latin typeface="Calibri"/>
              </a:rPr>
              <a:t>KI-Technik &amp; Steuerhinterziehung  •  Bastian &amp; Ibrahim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00C2A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73152" cy="5029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Finanzkriminalität mit Kryptowerten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74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C2A8"/>
                </a:solidFill>
                <a:latin typeface="Calibri"/>
              </a:rPr>
              <a:t>Folie 4 /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6400800" cy="868680"/>
          </a:xfrm>
          <a:prstGeom prst="roundRect">
            <a:avLst>
              <a:gd name="adj" fmla="val 1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E3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0876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Kooperation LSF Sachsen &amp; Hochschule Mittweida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6400800" cy="868680"/>
          </a:xfrm>
          <a:prstGeom prst="roundRect">
            <a:avLst>
              <a:gd name="adj" fmla="val 1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E3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6032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Millionenschwerer Markt in Deutschland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6400800" cy="868680"/>
          </a:xfrm>
          <a:prstGeom prst="roundRect">
            <a:avLst>
              <a:gd name="adj" fmla="val 1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E3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61188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Einkommensteuerpflicht bei Veräußerung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34840"/>
            <a:ext cx="6400800" cy="868680"/>
          </a:xfrm>
          <a:prstGeom prst="roundRect">
            <a:avLst>
              <a:gd name="adj" fmla="val 1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617720"/>
            <a:ext cx="502920" cy="50292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E3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663440"/>
            <a:ext cx="5257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EU-Richtlinie „DAC 8" – Meldepflicht für Kryptodienstleister</a:t>
            </a:r>
          </a:p>
        </p:txBody>
      </p:sp>
      <p:pic>
        <p:nvPicPr>
          <p:cNvPr id="18" name="Picture 17" descr="10_blockch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11680"/>
            <a:ext cx="4480560" cy="2514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0" y="4617720"/>
            <a:ext cx="4480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B263A"/>
                </a:solidFill>
                <a:latin typeface="Calibri"/>
              </a:rPr>
              <a:t>Funktionsweise der Blockchain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B8C2D6"/>
                </a:solidFill>
                <a:latin typeface="Calibri"/>
              </a:rPr>
              <a:t>KI-Technik &amp; Steuerhinterziehung  •  Bastian &amp; Ibrahim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00C2A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73152" cy="5029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Gegenspieler – Das Ausmaß der Steuerhinterziehung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74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C2A8"/>
                </a:solidFill>
                <a:latin typeface="Calibri"/>
              </a:rPr>
              <a:t>Folie 5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0B1E3F"/>
                </a:solidFill>
                <a:latin typeface="Calibri"/>
              </a:rPr>
              <a:t>Warum braucht es überhaupt KI in der Steuerverwaltung?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6E7A8C"/>
                </a:solidFill>
                <a:latin typeface="Calibri"/>
              </a:rPr>
              <a:t>Die Dimensionen der Steuerhinterziehung sind enorm – ein Blick auf vier zentrale Kennzahlen.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3707" y="283464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3707" y="2834640"/>
            <a:ext cx="2743200" cy="10972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147" y="310896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 i="0">
                <a:solidFill>
                  <a:srgbClr val="00C2A8"/>
                </a:solidFill>
                <a:latin typeface="Calibri"/>
              </a:rPr>
              <a:t>823,5 Mrd. 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867" y="3977640"/>
            <a:ext cx="24688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geschätzte Steuerlücke in der EU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867" y="475488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B8C2D6"/>
                </a:solidFill>
                <a:latin typeface="Calibri"/>
              </a:rPr>
              <a:t>(Quelle: Univ. London / Statista, 2015)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4067" y="283464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84067" y="2834640"/>
            <a:ext cx="2743200" cy="10972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5507" y="310896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 i="0">
                <a:solidFill>
                  <a:srgbClr val="00C2A8"/>
                </a:solidFill>
                <a:latin typeface="Calibri"/>
              </a:rPr>
              <a:t>125,1 Mrd.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1227" y="3977640"/>
            <a:ext cx="24688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entfallen davon auf Deutschland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1227" y="475488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B8C2D6"/>
                </a:solidFill>
                <a:latin typeface="Calibri"/>
              </a:rPr>
              <a:t>(Statista, 2015)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83464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4427" y="2834640"/>
            <a:ext cx="2743200" cy="10972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5867" y="310896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 i="0">
                <a:solidFill>
                  <a:srgbClr val="00C2A8"/>
                </a:solidFill>
                <a:latin typeface="Calibri"/>
              </a:rPr>
              <a:t>113 Mrd. 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1587" y="3977640"/>
            <a:ext cx="24688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Schaden durch Sozial-/ Abgabenbetrug p. 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475488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B8C2D6"/>
                </a:solidFill>
                <a:latin typeface="Calibri"/>
              </a:rPr>
              <a:t>(Schneider/JKU Linz, 2023)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4787" y="283464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4787" y="2834640"/>
            <a:ext cx="2743200" cy="109728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36227" y="310896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1" i="0">
                <a:solidFill>
                  <a:srgbClr val="00C2A8"/>
                </a:solidFill>
                <a:latin typeface="Calibri"/>
              </a:rPr>
              <a:t>nur 2,5 Mrd. 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1947" y="3977640"/>
            <a:ext cx="24688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Mehrsteuern durch Steuerfahndung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1947" y="475488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B8C2D6"/>
                </a:solidFill>
                <a:latin typeface="Calibri"/>
              </a:rPr>
              <a:t>(BMF / Statista)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B8C2D6"/>
                </a:solidFill>
                <a:latin typeface="Calibri"/>
              </a:rPr>
              <a:t>KI-Technik &amp; Steuerhinterziehung  •  Bastian &amp; Ibrahim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00C2A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73152" cy="5029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Steuerhinterziehung kostet EU-Staaten Milliarden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74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C2A8"/>
                </a:solidFill>
                <a:latin typeface="Calibri"/>
              </a:rPr>
              <a:t>Folie 5 / 9</a:t>
            </a:r>
          </a:p>
        </p:txBody>
      </p:sp>
      <p:pic>
        <p:nvPicPr>
          <p:cNvPr id="6" name="Picture 5" descr="02_eu_steuerhinterziehu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3228544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463040"/>
            <a:ext cx="43891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823,5 Mrd. € Gesamtschaden EU-weit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148840"/>
            <a:ext cx="43891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Italien an der Spitze (190,9 Mrd. €)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834640"/>
            <a:ext cx="43891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Deutschland Platz 2 (125,1 Mrd. €)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3520440"/>
            <a:ext cx="43891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Quelle: Univ. London / S&amp;D-Fraktion (Statista)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B8C2D6"/>
                </a:solidFill>
                <a:latin typeface="Calibri"/>
              </a:rPr>
              <a:t>KI-Technik &amp; Steuerhinterziehung  •  Bastian &amp; Ibrahim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00C2A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73152" cy="5029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Schaden durch Sozial- und Abgabenbetrug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74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C2A8"/>
                </a:solidFill>
                <a:latin typeface="Calibri"/>
              </a:rPr>
              <a:t>Folie 5 / 9</a:t>
            </a:r>
          </a:p>
        </p:txBody>
      </p:sp>
      <p:pic>
        <p:nvPicPr>
          <p:cNvPr id="6" name="Picture 5" descr="03_sozialbetru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858000" cy="49763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0" y="155448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113 Mrd. € Gesamtschaden / Jahr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24028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54,1 Mrd. € durch Schwarzarbeit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92608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38,4 Mrd. € klass. Steuerhinterziehung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61188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20,5 Mrd. € Sozialbetrug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530352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E7A8C"/>
                </a:solidFill>
                <a:latin typeface="Calibri"/>
              </a:rPr>
              <a:t>Quelle: Prof. Dr. F. Schneider, JKU Linz, 2023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B8C2D6"/>
                </a:solidFill>
                <a:latin typeface="Calibri"/>
              </a:rPr>
              <a:t>KI-Technik &amp; Steuerhinterziehung  •  Bastian &amp; Ibrahim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00C2A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73152" cy="5029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Steuerfahndung: Es bleibt eine riesige Lücke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74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C2A8"/>
                </a:solidFill>
                <a:latin typeface="Calibri"/>
              </a:rPr>
              <a:t>Folie 5 / 9</a:t>
            </a:r>
          </a:p>
        </p:txBody>
      </p:sp>
      <p:pic>
        <p:nvPicPr>
          <p:cNvPr id="6" name="Picture 5" descr="07_peanu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212080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554480"/>
            <a:ext cx="48463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Nur 2,2 – 3,3 Mrd. € jährlich entdeckt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240280"/>
            <a:ext cx="48463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27,4 Mrd. € Mehrsteuern in 10 Jahren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926080"/>
            <a:ext cx="48463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Geschätzter Verlust: 30 – 100 Mrd. € p. 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611880"/>
            <a:ext cx="48463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Riesige Dunkelziffer → Bedarf für 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303520"/>
            <a:ext cx="4846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E7A8C"/>
                </a:solidFill>
                <a:latin typeface="Calibri"/>
              </a:rPr>
              <a:t>Quelle: BMF / Statista-Recherche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B8C2D6"/>
                </a:solidFill>
                <a:latin typeface="Calibri"/>
              </a:rPr>
              <a:t>KI-Technik &amp; Steuerhinterziehung  •  Bastian &amp; Ibrahim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00C2A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73152" cy="5029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Mehrsteuern nach Steuerarten (in Mio. 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74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C2A8"/>
                </a:solidFill>
                <a:latin typeface="Calibri"/>
              </a:rPr>
              <a:t>Folie 5 / 9</a:t>
            </a:r>
          </a:p>
        </p:txBody>
      </p:sp>
      <p:pic>
        <p:nvPicPr>
          <p:cNvPr id="6" name="Picture 5" descr="08_mehrsteu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040880" cy="523754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0" y="155448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Umsatzsteuer dominiert (966,2 Mio. €)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24028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Einkommensteuer: 422,5 Mio. 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92608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Sonstige Steuern: 416,2 Mio. 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61188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→ USt ist Haupteinfallstor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B8C2D6"/>
                </a:solidFill>
                <a:latin typeface="Calibri"/>
              </a:rPr>
              <a:t>KI-Technik &amp; Steuerhinterziehung  •  Bastian &amp; Ibrahim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00C2A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73152" cy="5029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Blick über den Tellerrand – CRS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74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C2A8"/>
                </a:solidFill>
                <a:latin typeface="Calibri"/>
              </a:rPr>
              <a:t>Folie 6 / 9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0B1E3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23444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0B1E3F"/>
                </a:solidFill>
                <a:latin typeface="Calibri"/>
              </a:rPr>
              <a:t>Common-Reporting-Standard (CRS)</a:t>
            </a:r>
          </a:p>
        </p:txBody>
      </p:sp>
      <p:pic>
        <p:nvPicPr>
          <p:cNvPr id="9" name="Picture 8" descr="11_c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7315200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228600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Automatischer Infoaustausch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97180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Seit 2017 weltweit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65760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Auslandsvermögen offenlegen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34340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Finanzzentren = höheres Risiko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B8C2D6"/>
                </a:solidFill>
                <a:latin typeface="Calibri"/>
              </a:rPr>
              <a:t>KI-Technik &amp; Steuerhinterziehung  •  Bastian &amp; Ibrahim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00C2A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73152" cy="5029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Blick über den Tellerrand – CbCR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74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C2A8"/>
                </a:solidFill>
                <a:latin typeface="Calibri"/>
              </a:rPr>
              <a:t>Folie 6 / 9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0B1E3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23444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0B1E3F"/>
                </a:solidFill>
                <a:latin typeface="Calibri"/>
              </a:rPr>
              <a:t>Country-by-Country Reporting (CbCR)</a:t>
            </a:r>
          </a:p>
        </p:txBody>
      </p:sp>
      <p:pic>
        <p:nvPicPr>
          <p:cNvPr id="9" name="Picture 8" descr="12_cbc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0"/>
            <a:ext cx="5029200" cy="354244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0" y="2468880"/>
            <a:ext cx="53035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Berichtspflicht für Konzerne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154680"/>
            <a:ext cx="53035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Steuerdaten pro Land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840480"/>
            <a:ext cx="53035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Umsatzschwelle: 750 Mio. 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526280"/>
            <a:ext cx="53035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XLSX → XML-Übermittlung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B8C2D6"/>
                </a:solidFill>
                <a:latin typeface="Calibri"/>
              </a:rPr>
              <a:t>KI-Technik &amp; Steuerhinterziehung  •  Bastian &amp; Ibrahim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00C2A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73152" cy="5029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Blick über den Tellerrand – FATCA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74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C2A8"/>
                </a:solidFill>
                <a:latin typeface="Calibri"/>
              </a:rPr>
              <a:t>Folie 6 / 9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0B1E3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23444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0B1E3F"/>
                </a:solidFill>
                <a:latin typeface="Calibri"/>
              </a:rPr>
              <a:t>Foreign Account Tax Compliance Act (FATCA)</a:t>
            </a:r>
          </a:p>
        </p:txBody>
      </p:sp>
      <p:pic>
        <p:nvPicPr>
          <p:cNvPr id="9" name="Picture 8" descr="13_fat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77440"/>
            <a:ext cx="7315200" cy="31409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246888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US-Gesetz von 2010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15468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Meldepflicht für Banken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84048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Erfasst Auslandskonten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52628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Verhindert Steuerflucht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B8C2D6"/>
                </a:solidFill>
                <a:latin typeface="Calibri"/>
              </a:rPr>
              <a:t>KI-Technik &amp; Steuerhinterziehung  •  Bastian &amp; Ibrahim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00C2A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73152" cy="5029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Digitale Forensik – Panama Papers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74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C2A8"/>
                </a:solidFill>
                <a:latin typeface="Calibri"/>
              </a:rPr>
              <a:t>Folie 6 / 9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6400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0B1E3F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23444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0B1E3F"/>
                </a:solidFill>
                <a:latin typeface="Calibri"/>
              </a:rPr>
              <a:t>Digitale Forensik – Panama Papers</a:t>
            </a:r>
          </a:p>
        </p:txBody>
      </p:sp>
      <p:pic>
        <p:nvPicPr>
          <p:cNvPr id="9" name="Picture 8" descr="14_pana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0"/>
            <a:ext cx="6858000" cy="22888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93776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6E7A8C"/>
                </a:solidFill>
                <a:latin typeface="Calibri"/>
              </a:rPr>
              <a:t>Netzwerk-Visualisierung der Briefkasten-Beziehungen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46888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11,5 Mio. Dokumente geleakt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5468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Briefkastenfirmen in Panama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84048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Aufgedeckt durch Datenanalyse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526280"/>
            <a:ext cx="3474720" cy="50292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ICIJ-Recherche 2016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B8C2D6"/>
                </a:solidFill>
                <a:latin typeface="Calibri"/>
              </a:rPr>
              <a:t>KI-Technik &amp; Steuerhinterziehung  •  Bastian &amp; Ibrahim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00C2A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73152" cy="5029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Wie funktioniert KI-gestützte Steuerprüfung?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74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C2A8"/>
                </a:solidFill>
                <a:latin typeface="Calibri"/>
              </a:rPr>
              <a:t>Folie 7 /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6E7A8C"/>
                </a:solidFill>
                <a:latin typeface="Calibri"/>
              </a:rPr>
              <a:t>Vom Datenstrom zur Verdachtsmeldung – in vier Schritten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867" y="18288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3747" y="2011680"/>
            <a:ext cx="640080" cy="64008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B1E3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027" y="278892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B1E3F"/>
                </a:solidFill>
                <a:latin typeface="Calibri"/>
              </a:rPr>
              <a:t>Datenerfassung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027" y="3337560"/>
            <a:ext cx="233172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Steuererklärungen,</a:t>
            </a:r>
          </a:p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Rechnungen,</a:t>
            </a:r>
          </a:p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Bankdaten, CRS- /</a:t>
            </a:r>
          </a:p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CbCR-Meldungen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65195" y="3383280"/>
            <a:ext cx="192024" cy="365760"/>
          </a:xfrm>
          <a:prstGeom prst="rightArrow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75507" y="18288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58387" y="2011680"/>
            <a:ext cx="640080" cy="64008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B1E3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2667" y="278892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B1E3F"/>
                </a:solidFill>
                <a:latin typeface="Calibri"/>
              </a:rPr>
              <a:t>KI-Analyse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2667" y="3337560"/>
            <a:ext cx="233172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LLMs &amp; Big-Data-</a:t>
            </a:r>
          </a:p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Methoden erkennen</a:t>
            </a:r>
          </a:p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Muster und</a:t>
            </a:r>
          </a:p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Auffälligkeiten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99835" y="3383280"/>
            <a:ext cx="192024" cy="365760"/>
          </a:xfrm>
          <a:prstGeom prst="rightArrow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0147" y="18288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3027" y="2011680"/>
            <a:ext cx="640080" cy="64008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B1E3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278892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B1E3F"/>
                </a:solidFill>
                <a:latin typeface="Calibri"/>
              </a:rPr>
              <a:t>Risiko-Scoring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7307" y="3337560"/>
            <a:ext cx="233172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Algorithmus vergibt</a:t>
            </a:r>
          </a:p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eine Risiko-Punktzahl</a:t>
            </a:r>
          </a:p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pro Fall (low / mid /</a:t>
            </a:r>
          </a:p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high)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34475" y="3383280"/>
            <a:ext cx="192024" cy="365760"/>
          </a:xfrm>
          <a:prstGeom prst="rightArrow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44787" y="1828800"/>
            <a:ext cx="26060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27667" y="2011680"/>
            <a:ext cx="640080" cy="640080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0B1E3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1947" y="2788920"/>
            <a:ext cx="2331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B1E3F"/>
                </a:solidFill>
                <a:latin typeface="Calibri"/>
              </a:rPr>
              <a:t>Mensch entscheidet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1947" y="3337560"/>
            <a:ext cx="233172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Prüfer prüft</a:t>
            </a:r>
          </a:p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Verdachtsfall –</a:t>
            </a:r>
          </a:p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Human-in-the-Loop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49240"/>
            <a:ext cx="11155680" cy="731520"/>
          </a:xfrm>
          <a:prstGeom prst="roundRect">
            <a:avLst>
              <a:gd name="adj" fmla="val 2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3492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Mensch &amp; Maschine arbeiten zusammen – die KI sortiert vor, der Prüfer entscheidet.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B8C2D6"/>
                </a:solidFill>
                <a:latin typeface="Calibri"/>
              </a:rPr>
              <a:t>KI-Technik &amp; Steuerhinterziehung  •  Bastian &amp; Ibrahim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00C2A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73152" cy="5029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Chancen &amp; Risiken des KI-Einsatzes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74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C2A8"/>
                </a:solidFill>
                <a:latin typeface="Calibri"/>
              </a:rPr>
              <a:t>Folie 8 /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86400" cy="4754880"/>
          </a:xfrm>
          <a:prstGeom prst="roundRect">
            <a:avLst>
              <a:gd name="adj" fmla="val 4000"/>
            </a:avLst>
          </a:prstGeom>
          <a:solidFill>
            <a:srgbClr val="E6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188720"/>
            <a:ext cx="5486400" cy="640080"/>
          </a:xfrm>
          <a:prstGeom prst="roundRect">
            <a:avLst>
              <a:gd name="adj" fmla="val 15000"/>
            </a:avLst>
          </a:prstGeom>
          <a:solidFill>
            <a:srgbClr val="00A0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  ✓  Chancen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1B263A"/>
                </a:solidFill>
                <a:latin typeface="Calibri"/>
              </a:rPr>
              <a:t>•  Schnellere Bearbeitung von Millionen Fällen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16352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1B263A"/>
                </a:solidFill>
                <a:latin typeface="Calibri"/>
              </a:rPr>
              <a:t>•  Erkennung komplexer Betrugsmuster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9584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1B263A"/>
                </a:solidFill>
                <a:latin typeface="Calibri"/>
              </a:rPr>
              <a:t>•  Entlastung der Finanzbeamten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42816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1B263A"/>
                </a:solidFill>
                <a:latin typeface="Calibri"/>
              </a:rPr>
              <a:t>•  Mehr Steuereinnahmen für den Staat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56048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1B263A"/>
                </a:solidFill>
                <a:latin typeface="Calibri"/>
              </a:rPr>
              <a:t>•  Internationale Vernetzung der Daten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2375" y="1188720"/>
            <a:ext cx="5486400" cy="4754880"/>
          </a:xfrm>
          <a:prstGeom prst="roundRect">
            <a:avLst>
              <a:gd name="adj" fmla="val 4000"/>
            </a:avLst>
          </a:prstGeom>
          <a:solidFill>
            <a:srgbClr val="FD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02375" y="1188720"/>
            <a:ext cx="5486400" cy="640080"/>
          </a:xfrm>
          <a:prstGeom prst="roundRect">
            <a:avLst>
              <a:gd name="adj" fmla="val 15000"/>
            </a:avLst>
          </a:prstGeom>
          <a:solidFill>
            <a:srgbClr val="CE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2375" y="118872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  !  Risiken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8135" y="2103120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1B263A"/>
                </a:solidFill>
                <a:latin typeface="Calibri"/>
              </a:rPr>
              <a:t>•  Datenschutz &amp; Persönlichkeitsrechte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8135" y="2816352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1B263A"/>
                </a:solidFill>
                <a:latin typeface="Calibri"/>
              </a:rPr>
              <a:t>•  Falsche Treffer (False Positives)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8135" y="3529584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1B263A"/>
                </a:solidFill>
                <a:latin typeface="Calibri"/>
              </a:rPr>
              <a:t>•  Black-Box-Problem: KI-Entscheidung schwer nachvollziehbar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8135" y="4242816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1B263A"/>
                </a:solidFill>
                <a:latin typeface="Calibri"/>
              </a:rPr>
              <a:t>•  Abhängigkeit von Tech-Anbietern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8135" y="4956048"/>
            <a:ext cx="49377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1B263A"/>
                </a:solidFill>
                <a:latin typeface="Calibri"/>
              </a:rPr>
              <a:t>•  Hohe Kosten für Aufbau &amp; Betrieb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1155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1">
                <a:solidFill>
                  <a:srgbClr val="0B1E3F"/>
                </a:solidFill>
                <a:latin typeface="Calibri"/>
              </a:rPr>
              <a:t>→ Entscheidend bleibt das Prinzip „Human in the Loop" – die KI unterstützt, sie ersetzt nicht.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B8C2D6"/>
                </a:solidFill>
                <a:latin typeface="Calibri"/>
              </a:rPr>
              <a:t>KI-Technik &amp; Steuerhinterziehung  •  Bastian &amp; Ibrahim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00C2A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73152" cy="5029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Ausblick – Was kommt 2026 und danach?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74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C2A8"/>
                </a:solidFill>
                <a:latin typeface="Calibri"/>
              </a:rPr>
              <a:t>Folie 9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0698480" cy="73152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69948" y="3072384"/>
            <a:ext cx="329184" cy="329184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6060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0B1E3F"/>
                </a:solidFill>
                <a:latin typeface="Calibri"/>
              </a:rP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2606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B1E3F"/>
                </a:solidFill>
                <a:latin typeface="Calibri"/>
              </a:rPr>
              <a:t>Pilot NRW / Fraunhofer IAIS startet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260604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RAG-System gegen</a:t>
            </a:r>
          </a:p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Terrorfinanzierung</a:t>
            </a:r>
          </a:p>
        </p:txBody>
      </p:sp>
      <p:sp>
        <p:nvSpPr>
          <p:cNvPr id="11" name="Oval 10"/>
          <p:cNvSpPr/>
          <p:nvPr/>
        </p:nvSpPr>
        <p:spPr>
          <a:xfrm>
            <a:off x="4567428" y="3072384"/>
            <a:ext cx="329184" cy="329184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286000"/>
            <a:ext cx="26060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0B1E3F"/>
                </a:solidFill>
                <a:latin typeface="Calibri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566160"/>
            <a:ext cx="2606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B1E3F"/>
                </a:solidFill>
                <a:latin typeface="Calibri"/>
              </a:rPr>
              <a:t>Flächendeckender Roll-out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114800"/>
            <a:ext cx="260604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KI-Modul in der</a:t>
            </a:r>
          </a:p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Steuerveranlagung</a:t>
            </a:r>
          </a:p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(risikoarme Fälle)</a:t>
            </a:r>
          </a:p>
        </p:txBody>
      </p:sp>
      <p:sp>
        <p:nvSpPr>
          <p:cNvPr id="15" name="Oval 14"/>
          <p:cNvSpPr/>
          <p:nvPr/>
        </p:nvSpPr>
        <p:spPr>
          <a:xfrm>
            <a:off x="7264908" y="3072384"/>
            <a:ext cx="329184" cy="329184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286000"/>
            <a:ext cx="26060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0B1E3F"/>
                </a:solidFill>
                <a:latin typeface="Calibri"/>
              </a:rPr>
              <a:t>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566160"/>
            <a:ext cx="2606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B1E3F"/>
                </a:solidFill>
                <a:latin typeface="Calibri"/>
              </a:rPr>
              <a:t>DAC 8 wird verbindlich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114800"/>
            <a:ext cx="260604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Krypto-Daten</a:t>
            </a:r>
          </a:p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fließen EU-weit</a:t>
            </a:r>
          </a:p>
        </p:txBody>
      </p:sp>
      <p:sp>
        <p:nvSpPr>
          <p:cNvPr id="19" name="Oval 18"/>
          <p:cNvSpPr/>
          <p:nvPr/>
        </p:nvSpPr>
        <p:spPr>
          <a:xfrm>
            <a:off x="9962388" y="3072384"/>
            <a:ext cx="329184" cy="329184"/>
          </a:xfrm>
          <a:prstGeom prst="ellipse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2286000"/>
            <a:ext cx="26060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0B1E3F"/>
                </a:solidFill>
                <a:latin typeface="Calibri"/>
              </a:rPr>
              <a:t>2028+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3566160"/>
            <a:ext cx="2606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B1E3F"/>
                </a:solidFill>
                <a:latin typeface="Calibri"/>
              </a:rPr>
              <a:t>KI als Standard-Werkzeug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4114800"/>
            <a:ext cx="260604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Echtzeit-Prüfung &amp;</a:t>
            </a:r>
          </a:p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automatische</a:t>
            </a:r>
          </a:p>
          <a:p>
            <a:pPr algn="ctr"/>
            <a:r>
              <a:rPr sz="1100" b="0" i="0">
                <a:solidFill>
                  <a:srgbClr val="1B263A"/>
                </a:solidFill>
                <a:latin typeface="Calibri"/>
              </a:rPr>
              <a:t>Vorabentscheidungen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097280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1E3F"/>
                </a:solidFill>
                <a:latin typeface="Calibri"/>
              </a:rPr>
              <a:t>Die KI-Steuerverwaltung steht erst am Anfang.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E7A8C"/>
                </a:solidFill>
                <a:latin typeface="Calibri"/>
              </a:rPr>
              <a:t>Vier Meilensteine auf dem Weg zur datengetriebenen Finanzverwaltung: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52160"/>
            <a:ext cx="11155680" cy="640080"/>
          </a:xfrm>
          <a:prstGeom prst="roundRect">
            <a:avLst>
              <a:gd name="adj" fmla="val 20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85216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Vision 2030:  KI als selbstverständlicher Partner in jeder Finanzbehörde.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B8C2D6"/>
                </a:solidFill>
                <a:latin typeface="Calibri"/>
              </a:rPr>
              <a:t>KI-Technik &amp; Steuerhinterziehung  •  Bastian &amp; Ibrahim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00C2A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37160" cy="82296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FAZIT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881360" cy="1280160"/>
          </a:xfrm>
          <a:prstGeom prst="roundRect">
            <a:avLst>
              <a:gd name="adj" fmla="val 8000"/>
            </a:avLst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137160" cy="128016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9728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600" b="1" i="0">
                <a:solidFill>
                  <a:srgbClr val="00C2A8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05740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Riesige Steuerlücke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51460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Calibri"/>
              </a:rPr>
              <a:t>Bis zu 100 Mrd. € entgehen dem deutschen Staat jährlich – die klassische Steuerfahndung deckt nur einen Bruchteil auf.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37560"/>
            <a:ext cx="10881360" cy="1280160"/>
          </a:xfrm>
          <a:prstGeom prst="roundRect">
            <a:avLst>
              <a:gd name="adj" fmla="val 8000"/>
            </a:avLst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337560"/>
            <a:ext cx="137160" cy="128016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09728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600" b="1" i="0">
                <a:solidFill>
                  <a:srgbClr val="00C2A8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47472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KI als Gamechanger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93192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Calibri"/>
              </a:rPr>
              <a:t>RAG-Systeme, LLMs und Big-Data-Analysen (TaDeA, NRW.Genius) erkennen Muster, die Menschen übersehen würden.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54880"/>
            <a:ext cx="10881360" cy="1280160"/>
          </a:xfrm>
          <a:prstGeom prst="roundRect">
            <a:avLst>
              <a:gd name="adj" fmla="val 8000"/>
            </a:avLst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754880"/>
            <a:ext cx="137160" cy="128016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109728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600" b="1" i="0">
                <a:solidFill>
                  <a:srgbClr val="00C2A8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89204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Internationale Vernetzung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349240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Calibri"/>
              </a:rPr>
              <a:t>CRS, CbCR, FATCA und DAC 8 schaffen die Datenbasis, die KI-Systeme erst wirksam macht.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217920"/>
            <a:ext cx="12191695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00C2A8"/>
                </a:solidFill>
                <a:latin typeface="Calibri"/>
              </a:rPr>
              <a:t>Vielen Dank für Ihre Aufmerksamkeit!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01168"/>
            <a:ext cx="73152" cy="50292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1440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Quellenverzeichnis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2815" y="274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C2A8"/>
                </a:solidFill>
                <a:latin typeface="Calibri"/>
              </a:rPr>
              <a:t>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4712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09728" cy="64008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70432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C2A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143000"/>
            <a:ext cx="7772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libri"/>
              </a:rPr>
              <a:t>Künstliche Intelligenz in der Finanzverwaltung NRW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444752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6E7A8C"/>
                </a:solidFill>
                <a:latin typeface="Calibri"/>
              </a:rPr>
              <a:t>finanzverwaltung.nrw – abgerufen am 23.05.2026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47088"/>
            <a:ext cx="1124712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47088"/>
            <a:ext cx="109728" cy="64008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2024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C2A8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892808"/>
            <a:ext cx="7772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libri"/>
              </a:rPr>
              <a:t>NRW &amp; Fraunhofer IAIS erproben KI-Einsatz bei der Steuerfahndung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1945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6E7A8C"/>
                </a:solidFill>
                <a:latin typeface="Calibri"/>
              </a:rPr>
              <a:t>Pressemitteilung Finanzverwaltung NRW, 10.06.2025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96896"/>
            <a:ext cx="1124712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596896"/>
            <a:ext cx="109728" cy="64008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670048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C2A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642616"/>
            <a:ext cx="7772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libri"/>
              </a:rPr>
              <a:t>Finanzkriminalität mit Kryptowerten: Sachsen setzt auf KI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944368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6E7A8C"/>
                </a:solidFill>
                <a:latin typeface="Calibri"/>
              </a:rPr>
              <a:t>Pressemitteilung, 12.11.2025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46704"/>
            <a:ext cx="1124712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346704"/>
            <a:ext cx="109728" cy="64008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419856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C2A8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392424"/>
            <a:ext cx="7772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libri"/>
              </a:rPr>
              <a:t>TaDeA – Universität Oldenburg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94176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6E7A8C"/>
                </a:solidFill>
                <a:latin typeface="Calibri"/>
              </a:rPr>
              <a:t>tadea-ol.de – abgerufen am 26.05.2026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096512"/>
            <a:ext cx="1124712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096512"/>
            <a:ext cx="109728" cy="64008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169664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C2A8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142232"/>
            <a:ext cx="7772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libri"/>
              </a:rPr>
              <a:t>Statista: Steuerhinterziehung in EU-Staaten / Steuerfahndung-Mehrsteuern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443984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6E7A8C"/>
                </a:solidFill>
                <a:latin typeface="Calibri"/>
              </a:rPr>
              <a:t>statista.com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846320"/>
            <a:ext cx="1124712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846320"/>
            <a:ext cx="109728" cy="64008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919472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C2A8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892040"/>
            <a:ext cx="7772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libri"/>
              </a:rPr>
              <a:t>Prof. Dr. F. Schneider, JKU Linz – Schaden durch Sozial- und Abgabenbetrug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5193792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6E7A8C"/>
                </a:solidFill>
                <a:latin typeface="Calibri"/>
              </a:rPr>
              <a:t>ZDF heute, 2023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596128"/>
            <a:ext cx="11247120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596128"/>
            <a:ext cx="109728" cy="64008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669280"/>
            <a:ext cx="5486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00C2A8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5641848"/>
            <a:ext cx="777240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B1E3F"/>
                </a:solidFill>
                <a:latin typeface="Calibri"/>
              </a:rPr>
              <a:t>DIW Berlin Wochenbericht 22/2025 – Auslandsvermögen &amp; CRS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59436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6E7A8C"/>
                </a:solidFill>
                <a:latin typeface="Calibri"/>
              </a:rPr>
              <a:t>diw.de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7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55624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B8C2D6"/>
                </a:solidFill>
                <a:latin typeface="Calibri"/>
              </a:rPr>
              <a:t>KI-Technik &amp; Steuerhinterziehung  •  Bastian &amp; Ibrahim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00C2A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